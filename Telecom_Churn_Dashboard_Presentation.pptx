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Churned customers</c:v>
                </c:pt>
              </c:strCache>
            </c:strRef>
          </c:tx>
          <c:spPr>
            <a:solidFill>
              <a:srgbClr val="D6455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5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TX</c:v>
                </c:pt>
                <c:pt idx="1">
                  <c:v>MD</c:v>
                </c:pt>
                <c:pt idx="2">
                  <c:v>NJ</c:v>
                </c:pt>
                <c:pt idx="3">
                  <c:v>MN</c:v>
                </c:pt>
                <c:pt idx="4">
                  <c:v>NV</c:v>
                </c:pt>
                <c:pt idx="5">
                  <c:v>MI</c:v>
                </c:pt>
                <c:pt idx="6">
                  <c:v>NY</c:v>
                </c:pt>
                <c:pt idx="7">
                  <c:v>MS</c:v>
                </c:pt>
                <c:pt idx="8">
                  <c:v>AR</c:v>
                </c:pt>
                <c:pt idx="9">
                  <c:v>ME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</c:v>
                </c:pt>
                <c:pt idx="1">
                  <c:v>14</c:v>
                </c:pt>
                <c:pt idx="2">
                  <c:v>14</c:v>
                </c:pt>
                <c:pt idx="3">
                  <c:v>13</c:v>
                </c:pt>
                <c:pt idx="4">
                  <c:v>13</c:v>
                </c:pt>
                <c:pt idx="5">
                  <c:v>13</c:v>
                </c:pt>
                <c:pt idx="6">
                  <c:v>12</c:v>
                </c:pt>
                <c:pt idx="7">
                  <c:v>11</c:v>
                </c:pt>
                <c:pt idx="8">
                  <c:v>11</c:v>
                </c:pt>
                <c:pt idx="9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DA-4B80-BD99-342F1CF965C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25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4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0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Churn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C4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5E8-42F6-9162-82F66058C7F4}"/>
              </c:ext>
            </c:extLst>
          </c:dPt>
          <c:dPt>
            <c:idx val="1"/>
            <c:bubble3D val="0"/>
            <c:spPr>
              <a:solidFill>
                <a:srgbClr val="D645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5E8-42F6-9162-82F66058C7F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5E8-42F6-9162-82F66058C7F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5E8-42F6-9162-82F66058C7F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Retained (No)</c:v>
                </c:pt>
                <c:pt idx="1">
                  <c:v>Churned (Yes)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2278</c:v>
                </c:pt>
                <c:pt idx="1">
                  <c:v>388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5E8-42F6-9162-82F66058C7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B254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343-4024-81FD-CE0156E8BB25}"/>
              </c:ext>
            </c:extLst>
          </c:dPt>
          <c:dPt>
            <c:idx val="1"/>
            <c:invertIfNegative val="0"/>
            <c:bubble3D val="0"/>
            <c:spPr>
              <a:solidFill>
                <a:srgbClr val="D645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343-4024-81FD-CE0156E8BB25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0B25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 International Plan</c:v>
                </c:pt>
                <c:pt idx="1">
                  <c:v>Has International Plan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11.27</c:v>
                </c:pt>
                <c:pt idx="1">
                  <c:v>43.7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343-4024-81FD-CE0156E8BB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12700" cap="flat">
              <a:solidFill>
                <a:srgbClr val="E4E9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b="0" i="0" u="none" strike="noStrike">
                    <a:solidFill>
                      <a:srgbClr val="000000"/>
                    </a:solidFill>
                    <a:latin typeface="Arial"/>
                  </a:rPr>
                  <a:t>Churn Rate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0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ln w="38100" cap="flat">
              <a:solidFill>
                <a:srgbClr val="D64550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D64550"/>
              </a:solidFill>
              <a:ln w="9525" cap="flat">
                <a:solidFill>
                  <a:srgbClr val="D64550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14.2</c:v>
                </c:pt>
                <c:pt idx="1">
                  <c:v>10.5</c:v>
                </c:pt>
                <c:pt idx="2">
                  <c:v>10.199999999999999</c:v>
                </c:pt>
                <c:pt idx="3">
                  <c:v>10.6</c:v>
                </c:pt>
                <c:pt idx="4">
                  <c:v>48.1</c:v>
                </c:pt>
                <c:pt idx="5">
                  <c:v>59.2</c:v>
                </c:pt>
                <c:pt idx="6">
                  <c:v>58.8</c:v>
                </c:pt>
                <c:pt idx="7">
                  <c:v>62.5</c:v>
                </c:pt>
                <c:pt idx="8">
                  <c:v>100</c:v>
                </c:pt>
                <c:pt idx="9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CD6-4011-BE9E-399721906A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b="0" i="0" u="none" strike="noStrike">
                    <a:solidFill>
                      <a:srgbClr val="000000"/>
                    </a:solidFill>
                    <a:latin typeface="Arial"/>
                  </a:rPr>
                  <a:t>Number of Customer-Service Calls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25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4E9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b="0" i="0" u="none" strike="noStrike">
                    <a:solidFill>
                      <a:srgbClr val="000000"/>
                    </a:solidFill>
                    <a:latin typeface="Arial"/>
                  </a:rPr>
                  <a:t>Churn Rate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0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Customers</c:v>
                </c:pt>
              </c:strCache>
            </c:strRef>
          </c:tx>
          <c:spPr>
            <a:solidFill>
              <a:srgbClr val="1C7293">
                <a:alpha val="55000"/>
              </a:srgbClr>
            </a:solidFill>
            <a:effectLst/>
          </c:spPr>
          <c:cat>
            <c:strRef>
              <c:f>Sheet1!$A$2:$A$11</c:f>
              <c:strCach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555</c:v>
                </c:pt>
                <c:pt idx="1">
                  <c:v>945</c:v>
                </c:pt>
                <c:pt idx="2">
                  <c:v>608</c:v>
                </c:pt>
                <c:pt idx="3">
                  <c:v>348</c:v>
                </c:pt>
                <c:pt idx="4">
                  <c:v>133</c:v>
                </c:pt>
                <c:pt idx="5">
                  <c:v>49</c:v>
                </c:pt>
                <c:pt idx="6">
                  <c:v>17</c:v>
                </c:pt>
                <c:pt idx="7">
                  <c:v>8</c:v>
                </c:pt>
                <c:pt idx="8">
                  <c:v>1</c:v>
                </c:pt>
                <c:pt idx="9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C6-4421-8BB7-32CDED1E7C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sz="1100" b="0" i="0" u="none" strike="noStrike">
                    <a:solidFill>
                      <a:srgbClr val="000000"/>
                    </a:solidFill>
                    <a:latin typeface="Arial"/>
                  </a:rPr>
                  <a:t>Number of Service Calls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B25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4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0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2016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698480" y="3931920"/>
            <a:ext cx="3291840" cy="329184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40080" y="68580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icons/ac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9" y="779069"/>
            <a:ext cx="590702" cy="5907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1691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PROJECT  · 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10607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Telecom Customer</a:t>
            </a:r>
            <a:endParaRPr lang="en-US" sz="54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Dashboard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594360" y="41605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7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BI analysis of subscriber attrition — using service usage, plan type and support-interaction data to flag customers at risk and recommend retention action.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94360" y="54864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, Lovish, Vishwajeet,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Shitanshu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Akash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5806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— Business Analytics &amp; Finance  ·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Mittal School of Business, LPU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icons/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0" y="534010"/>
            <a:ext cx="486461" cy="4864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303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COVERS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8229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>
              <a:solidFill>
                <a:schemeClr val="accent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1325880" y="17830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325880" y="213055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churn matters to a telecom operator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" y="2953512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>
              <a:solidFill>
                <a:schemeClr val="accent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1325880" y="295351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Scope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325880" y="3300984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dashboard sets out to answer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4123944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>
              <a:solidFill>
                <a:schemeClr val="accent1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1325880" y="412394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Methodology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1325880" y="4471416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 and Power BI approach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5294376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>
              <a:solidFill>
                <a:schemeClr val="accent1"/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1325880" y="529437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1325880" y="564184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dashboard tackles the problem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080760" y="178308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>
              <a:solidFill>
                <a:schemeClr val="accent1"/>
              </a:solidFill>
            </a:endParaRPr>
          </a:p>
        </p:txBody>
      </p:sp>
      <p:sp>
        <p:nvSpPr>
          <p:cNvPr id="19" name="Text 16"/>
          <p:cNvSpPr/>
          <p:nvPr/>
        </p:nvSpPr>
        <p:spPr>
          <a:xfrm>
            <a:off x="6858000" y="17830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Snapshot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6858000" y="213055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numbers at a glance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080760" y="2953512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>
              <a:solidFill>
                <a:schemeClr val="accent1"/>
              </a:solidFill>
            </a:endParaRPr>
          </a:p>
        </p:txBody>
      </p:sp>
      <p:sp>
        <p:nvSpPr>
          <p:cNvPr id="22" name="Text 19"/>
          <p:cNvSpPr/>
          <p:nvPr/>
        </p:nvSpPr>
        <p:spPr>
          <a:xfrm>
            <a:off x="6858000" y="295351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Chart-by-Chart Walkthrough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6858000" y="3300984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visuals, slicer &amp; drill-through explained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080760" y="4123944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000" dirty="0">
              <a:solidFill>
                <a:schemeClr val="accent1"/>
              </a:solidFill>
            </a:endParaRPr>
          </a:p>
        </p:txBody>
      </p:sp>
      <p:sp>
        <p:nvSpPr>
          <p:cNvPr id="25" name="Text 22"/>
          <p:cNvSpPr/>
          <p:nvPr/>
        </p:nvSpPr>
        <p:spPr>
          <a:xfrm>
            <a:off x="6858000" y="412394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550" dirty="0"/>
          </a:p>
        </p:txBody>
      </p:sp>
      <p:sp>
        <p:nvSpPr>
          <p:cNvPr id="26" name="Text 23"/>
          <p:cNvSpPr/>
          <p:nvPr/>
        </p:nvSpPr>
        <p:spPr>
          <a:xfrm>
            <a:off x="6858000" y="4471416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patterns that matter most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6080760" y="5294376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3000" dirty="0">
              <a:solidFill>
                <a:schemeClr val="accent1"/>
              </a:solidFill>
            </a:endParaRPr>
          </a:p>
        </p:txBody>
      </p:sp>
      <p:sp>
        <p:nvSpPr>
          <p:cNvPr id="28" name="Text 25"/>
          <p:cNvSpPr/>
          <p:nvPr/>
        </p:nvSpPr>
        <p:spPr>
          <a:xfrm>
            <a:off x="6858000" y="529437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Conclusion</a:t>
            </a:r>
            <a:endParaRPr lang="en-US" sz="1550" dirty="0"/>
          </a:p>
        </p:txBody>
      </p:sp>
      <p:sp>
        <p:nvSpPr>
          <p:cNvPr id="29" name="Text 26"/>
          <p:cNvSpPr/>
          <p:nvPr/>
        </p:nvSpPr>
        <p:spPr>
          <a:xfrm>
            <a:off x="6858000" y="564184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insight into retention action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icons/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0" y="534010"/>
            <a:ext cx="486461" cy="4864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Losing customers quietly, one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call at a time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2377440"/>
            <a:ext cx="6035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operators run on subscription revenue, so every customer who leaves takes recurring income with them. Acquiring a new subscriber typically costs far more than keeping an existing one — yet churn is usually only visible after the customer has already cancelled.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397764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consolidated view, retention teams cannot see which states, plan types or service-call patterns are quietly driving attrition — so spend on win-back offers is reactive and untargeted.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995160" y="2331720"/>
            <a:ext cx="4617720" cy="1234440"/>
          </a:xfrm>
          <a:prstGeom prst="roundRect">
            <a:avLst>
              <a:gd name="adj" fmla="val 5926"/>
            </a:avLst>
          </a:prstGeom>
          <a:solidFill>
            <a:srgbClr val="F5F9FB"/>
          </a:solidFill>
          <a:ln w="12700">
            <a:solidFill>
              <a:srgbClr val="CF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223760" y="245973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early warning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223760" y="2807208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confirmed only after the customer has left.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995160" y="3776472"/>
            <a:ext cx="4617720" cy="1234440"/>
          </a:xfrm>
          <a:prstGeom prst="roundRect">
            <a:avLst>
              <a:gd name="adj" fmla="val 5926"/>
            </a:avLst>
          </a:prstGeom>
          <a:solidFill>
            <a:srgbClr val="F5F9FB"/>
          </a:solidFill>
          <a:ln w="12700">
            <a:solidFill>
              <a:srgbClr val="CF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7223760" y="390448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data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223760" y="4251960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Usage, plan and support-call data sit in separate tables.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995160" y="5221224"/>
            <a:ext cx="4617720" cy="1234440"/>
          </a:xfrm>
          <a:prstGeom prst="roundRect">
            <a:avLst>
              <a:gd name="adj" fmla="val 5926"/>
            </a:avLst>
          </a:prstGeom>
          <a:solidFill>
            <a:srgbClr val="F5F9FB"/>
          </a:solidFill>
          <a:ln w="12700">
            <a:solidFill>
              <a:srgbClr val="CF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7223760" y="5349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Untargeted retention spend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223760" y="5696712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go out broadly instead of to at-risk segments.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DASHBOARD  |  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0" y="534010"/>
            <a:ext cx="486461" cy="4864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DASHBOARD EXISTS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Scope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2057400"/>
            <a:ext cx="51206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C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822960" y="23317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2296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508760" y="231343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problem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22960" y="29718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how many customers churn, and at what overall rate, out of the full subscriber base.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2057400"/>
            <a:ext cx="51206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C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446520" y="23317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44652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132320" y="231343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drivers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446520" y="29718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factors — geography, international plan, customer-service calls — are associated with higher churn.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4251960"/>
            <a:ext cx="51206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C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822960" y="45262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822960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508760" y="450799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self-service exploration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822960" y="516636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 retention manager filter and drill through by churn status without needing a fresh report each time.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172200" y="4251960"/>
            <a:ext cx="51206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C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6446520" y="45262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6446520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132320" y="450799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insight into action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6446520" y="516636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patterns found into concrete, prioritised retention recommendations.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0" y="534010"/>
            <a:ext cx="486461" cy="4864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BUILT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 &amp; Methodology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2011680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is built in Power BI on the Telecom Customer Churn dataset (table churn-bigml-80) — a real subscriber-level extract widely used to benchmark churn analytics.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92608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48640" y="29260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2880360"/>
            <a:ext cx="5806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&amp; model:  </a:t>
            </a: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the raw CSV into Power BI and set correct data types for each of the 20 columns.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70332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48640" y="37033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51560" y="3657600"/>
            <a:ext cx="5806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measures:  </a:t>
            </a: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DAX measures — Total Customers, Churned Customers, Retained Customers, Churn Rate, Average Account Length.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448056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48640" y="44805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51560" y="4434840"/>
            <a:ext cx="5806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visuals:  </a:t>
            </a: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six charts plus KPI cards to view churn by state, plan type and support-call volume.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525780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48640" y="52578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51560" y="5212080"/>
            <a:ext cx="5806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interactivity:  </a:t>
            </a: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Churn slicer and a drill-through button so any view can be filtered or explored in one click.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315200" y="2011680"/>
            <a:ext cx="4343400" cy="4023360"/>
          </a:xfrm>
          <a:prstGeom prst="roundRect">
            <a:avLst>
              <a:gd name="adj" fmla="val 2273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7635240" y="22677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635240" y="26974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2,666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9098280" y="27706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3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635240" y="331927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9098280" y="339242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3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per customer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635240" y="3941064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9098280" y="401421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3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— churn-bigml-80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635240" y="4562856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9098280" y="46360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3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states represented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635240" y="518464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9098280" y="5257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3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Desktop, single-page report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DASHBOARD  | 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icons/lay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0" y="534010"/>
            <a:ext cx="486461" cy="4864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SOLUTION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page, five KPIs, six charts —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churn angle in a single view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242316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static reports, I designed a single interactive Power BI page that lets a retention manager move from headline numbers to root causes in seconds — filtering by churn status and drilling through without leaving the screen.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291840"/>
            <a:ext cx="2606040" cy="27889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C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1531620" y="361188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/home/claude/icons/bar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8430" y="3688690"/>
            <a:ext cx="486461" cy="4864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" y="443484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KPI Cards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731520" y="489204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churned &amp; retained customers, churn rate and average tenure — the headline scorecard.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374136" y="3291840"/>
            <a:ext cx="2606040" cy="27889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C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4357116" y="361188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/home/claude/icons/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926" y="3688690"/>
            <a:ext cx="486461" cy="48646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38728" y="443484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Visuals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3557016" y="489204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Bar, treemap, pie, clustered column, line and area charts covering geography, plan type and support calls.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199632" y="3291840"/>
            <a:ext cx="2606040" cy="27889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C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7182612" y="361188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3" descr="/home/claude/icons/slid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9422" y="3688690"/>
            <a:ext cx="486461" cy="48646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64224" y="443484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Slicer + Drill-through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6382512" y="489204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Churn filter and an action button let users isolate churned customers instantly.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9025128" y="3291840"/>
            <a:ext cx="2606040" cy="27889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C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7"/>
          <p:cNvSpPr/>
          <p:nvPr/>
        </p:nvSpPr>
        <p:spPr>
          <a:xfrm>
            <a:off x="10008108" y="361188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4" descr="/home/claude/icons/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4918" y="3688690"/>
            <a:ext cx="486461" cy="486461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189720" y="443484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Decision-ready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9208008" y="489204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visual is built to answer one specific retention question, not just to display data.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2286000"/>
            <a:ext cx="5029200" cy="50292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claude/icons/bar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0" y="534010"/>
            <a:ext cx="486461" cy="4864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5303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WALKTHROUGH · KPI CARDS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37160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Scorecard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2084832" cy="2743200"/>
          </a:xfrm>
          <a:prstGeom prst="roundRect">
            <a:avLst>
              <a:gd name="adj" fmla="val 4386"/>
            </a:avLst>
          </a:prstGeom>
          <a:solidFill>
            <a:srgbClr val="21295C"/>
          </a:solidFill>
          <a:ln w="12700">
            <a:solidFill>
              <a:srgbClr val="344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40080" y="2743200"/>
            <a:ext cx="1901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2,666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58368" y="3749040"/>
            <a:ext cx="18653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C3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816352" y="1965960"/>
            <a:ext cx="2084832" cy="2743200"/>
          </a:xfrm>
          <a:prstGeom prst="roundRect">
            <a:avLst>
              <a:gd name="adj" fmla="val 4386"/>
            </a:avLst>
          </a:prstGeom>
          <a:solidFill>
            <a:srgbClr val="21295C"/>
          </a:solidFill>
          <a:ln w="12700">
            <a:solidFill>
              <a:srgbClr val="344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2907792" y="2743200"/>
            <a:ext cx="1901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388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2926080" y="3749040"/>
            <a:ext cx="18653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C3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84064" y="1965960"/>
            <a:ext cx="2084832" cy="2743200"/>
          </a:xfrm>
          <a:prstGeom prst="roundRect">
            <a:avLst>
              <a:gd name="adj" fmla="val 4386"/>
            </a:avLst>
          </a:prstGeom>
          <a:solidFill>
            <a:srgbClr val="21295C"/>
          </a:solidFill>
          <a:ln w="12700">
            <a:solidFill>
              <a:srgbClr val="344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175504" y="2743200"/>
            <a:ext cx="1901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2,278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5193792" y="3749040"/>
            <a:ext cx="18653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C3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Customers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351776" y="1965960"/>
            <a:ext cx="2084832" cy="2743200"/>
          </a:xfrm>
          <a:prstGeom prst="roundRect">
            <a:avLst>
              <a:gd name="adj" fmla="val 4386"/>
            </a:avLst>
          </a:prstGeom>
          <a:solidFill>
            <a:srgbClr val="21295C"/>
          </a:solidFill>
          <a:ln w="12700">
            <a:solidFill>
              <a:srgbClr val="344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7443216" y="2743200"/>
            <a:ext cx="1901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14.55%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7461504" y="3749040"/>
            <a:ext cx="18653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C3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9619488" y="1965960"/>
            <a:ext cx="2084832" cy="2743200"/>
          </a:xfrm>
          <a:prstGeom prst="roundRect">
            <a:avLst>
              <a:gd name="adj" fmla="val 4386"/>
            </a:avLst>
          </a:prstGeom>
          <a:solidFill>
            <a:srgbClr val="21295C"/>
          </a:solidFill>
          <a:ln w="12700">
            <a:solidFill>
              <a:srgbClr val="344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9710928" y="2743200"/>
            <a:ext cx="1901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100.6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9729216" y="3749040"/>
            <a:ext cx="18653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C3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Account Length (days)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" y="5074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read directly from Power BI DAX measures, giving an instant scorecard before any filtering.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DASHBOARD  |  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icons/mapp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0" y="534010"/>
            <a:ext cx="486461" cy="4864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1 · BAR CHART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Churned Customers by State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81051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states carry the most churned customers, in raw counts.</a:t>
            </a:r>
            <a:endParaRPr lang="en-US" sz="12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2240280"/>
          <a:ext cx="676656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7498080" y="2240280"/>
            <a:ext cx="4160520" cy="3886200"/>
          </a:xfrm>
          <a:prstGeom prst="roundRect">
            <a:avLst>
              <a:gd name="adj" fmla="val 2353"/>
            </a:avLst>
          </a:prstGeom>
          <a:solidFill>
            <a:srgbClr val="F5F9FB"/>
          </a:solidFill>
          <a:ln w="12700">
            <a:solidFill>
              <a:srgbClr val="CF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777240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CHART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7772400" y="28346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bar is one US state; height is the number of customers with Churn = True. Texas (16), Maryland and New Jersey (14 each) top the list of raw churn counts.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772400" y="4206240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state sample sizes differ, raw counts alone can be misleading — that's exactly why the treemap on the next slide is paired with this chart, to show proportional share as well.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DASHBOARD  |  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icons/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0" y="534010"/>
            <a:ext cx="486461" cy="4864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2 · TREEMAP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Churn Share (Proportional View)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81051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State × Churn fields as the bar chart, shown as proportional area instead of bar height.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240280"/>
            <a:ext cx="2803550" cy="3886200"/>
          </a:xfrm>
          <a:prstGeom prst="roundRect">
            <a:avLst>
              <a:gd name="adj" fmla="val 1305"/>
            </a:avLst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85800" y="5349240"/>
            <a:ext cx="252923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41 states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5800" y="5687568"/>
            <a:ext cx="25292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 churned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34486" y="2267712"/>
            <a:ext cx="708477" cy="1888236"/>
          </a:xfrm>
          <a:prstGeom prst="roundRect">
            <a:avLst>
              <a:gd name="adj" fmla="val 3872"/>
            </a:avLst>
          </a:prstGeom>
          <a:solidFill>
            <a:srgbClr val="D6455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3480206" y="3561588"/>
            <a:ext cx="61703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480206" y="3835908"/>
            <a:ext cx="61703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197828" y="2267712"/>
            <a:ext cx="708477" cy="1888236"/>
          </a:xfrm>
          <a:prstGeom prst="roundRect">
            <a:avLst>
              <a:gd name="adj" fmla="val 3872"/>
            </a:avLst>
          </a:prstGeom>
          <a:solidFill>
            <a:srgbClr val="DB5F6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243548" y="3561588"/>
            <a:ext cx="61703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243548" y="3835908"/>
            <a:ext cx="61703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961169" y="2267712"/>
            <a:ext cx="708477" cy="1888236"/>
          </a:xfrm>
          <a:prstGeom prst="roundRect">
            <a:avLst>
              <a:gd name="adj" fmla="val 3872"/>
            </a:avLst>
          </a:prstGeom>
          <a:solidFill>
            <a:srgbClr val="E0797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06889" y="3561588"/>
            <a:ext cx="61703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06889" y="3835908"/>
            <a:ext cx="61703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724510" y="2267712"/>
            <a:ext cx="708477" cy="1888236"/>
          </a:xfrm>
          <a:prstGeom prst="roundRect">
            <a:avLst>
              <a:gd name="adj" fmla="val 3872"/>
            </a:avLst>
          </a:prstGeom>
          <a:solidFill>
            <a:srgbClr val="E5939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770230" y="3561588"/>
            <a:ext cx="61703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770230" y="3835908"/>
            <a:ext cx="61703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487851" y="2267712"/>
            <a:ext cx="708477" cy="1888236"/>
          </a:xfrm>
          <a:prstGeom prst="roundRect">
            <a:avLst>
              <a:gd name="adj" fmla="val 3872"/>
            </a:avLst>
          </a:prstGeom>
          <a:solidFill>
            <a:srgbClr val="E9ACA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6533571" y="3561588"/>
            <a:ext cx="61703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533571" y="3835908"/>
            <a:ext cx="61703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434486" y="4210812"/>
            <a:ext cx="708477" cy="1888236"/>
          </a:xfrm>
          <a:prstGeom prst="roundRect">
            <a:avLst>
              <a:gd name="adj" fmla="val 3872"/>
            </a:avLst>
          </a:prstGeom>
          <a:solidFill>
            <a:srgbClr val="0B2545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3480206" y="5504688"/>
            <a:ext cx="61703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480206" y="5779008"/>
            <a:ext cx="61703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197828" y="4210812"/>
            <a:ext cx="708477" cy="1888236"/>
          </a:xfrm>
          <a:prstGeom prst="roundRect">
            <a:avLst>
              <a:gd name="adj" fmla="val 3872"/>
            </a:avLst>
          </a:prstGeom>
          <a:solidFill>
            <a:srgbClr val="213A6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4243548" y="5504688"/>
            <a:ext cx="61703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243548" y="5779008"/>
            <a:ext cx="61703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961169" y="4210812"/>
            <a:ext cx="708477" cy="1888236"/>
          </a:xfrm>
          <a:prstGeom prst="roundRect">
            <a:avLst>
              <a:gd name="adj" fmla="val 3872"/>
            </a:avLst>
          </a:prstGeom>
          <a:solidFill>
            <a:srgbClr val="37528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5006889" y="5504688"/>
            <a:ext cx="61703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006889" y="5779008"/>
            <a:ext cx="61703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724510" y="4210812"/>
            <a:ext cx="708477" cy="1888236"/>
          </a:xfrm>
          <a:prstGeom prst="roundRect">
            <a:avLst>
              <a:gd name="adj" fmla="val 3872"/>
            </a:avLst>
          </a:prstGeom>
          <a:solidFill>
            <a:srgbClr val="4D6A9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5770230" y="5504688"/>
            <a:ext cx="61703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5770230" y="5779008"/>
            <a:ext cx="61703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487851" y="4210812"/>
            <a:ext cx="708477" cy="1888236"/>
          </a:xfrm>
          <a:prstGeom prst="roundRect">
            <a:avLst>
              <a:gd name="adj" fmla="val 3872"/>
            </a:avLst>
          </a:prstGeom>
          <a:solidFill>
            <a:srgbClr val="6382B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6533571" y="5504688"/>
            <a:ext cx="61703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533571" y="5779008"/>
            <a:ext cx="61703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7498080" y="2240280"/>
            <a:ext cx="4160520" cy="3886200"/>
          </a:xfrm>
          <a:prstGeom prst="roundRect">
            <a:avLst>
              <a:gd name="adj" fmla="val 2353"/>
            </a:avLst>
          </a:prstGeom>
          <a:solidFill>
            <a:srgbClr val="F5F9FB"/>
          </a:solidFill>
          <a:ln w="12700">
            <a:solidFill>
              <a:srgbClr val="CF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/>
          <p:nvPr/>
        </p:nvSpPr>
        <p:spPr>
          <a:xfrm>
            <a:off x="777240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CHART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7772400" y="28346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size = share of total churned customers. The ten highest-churn states together account for roughly a third of all churn, even though they're a fifth of the states represented.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7772400" y="443484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live dashboard this same visual is a Power BI treemap on State × Churn, and it cross-filters every other visual on the page when a block is clicked.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DASHBOARD  | 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icons/pie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0" y="534010"/>
            <a:ext cx="486461" cy="4864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3 · PIE CHART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Churn Distribution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81051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Churn field, split into Yes / No, as a share of the full customer base.</a:t>
            </a:r>
            <a:endParaRPr lang="en-US" sz="12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40080" y="2194560"/>
          <a:ext cx="60350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7498080" y="2240280"/>
            <a:ext cx="4160520" cy="3886200"/>
          </a:xfrm>
          <a:prstGeom prst="roundRect">
            <a:avLst>
              <a:gd name="adj" fmla="val 2353"/>
            </a:avLst>
          </a:prstGeom>
          <a:solidFill>
            <a:srgbClr val="F5F9FB"/>
          </a:solidFill>
          <a:ln w="12700">
            <a:solidFill>
              <a:srgbClr val="CF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777240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CHART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7772400" y="28346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14.55% of the 2,666 customers in the dataset have churned (388), against 85.45% retained (2,278). This single visual anchors every other chart on the page.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7772400" y="43434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looks like a small slice — but at telecom scale, roughly 1 in 7 subscribers leaving is a material, recurring revenue loss worth investigating further.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DASHBOARD  |  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icon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0" y="534010"/>
            <a:ext cx="486461" cy="4864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4 · CLUSTERED COLUMN  ·  KEY FINDING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International Plan Subscribers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Nearly 4× More Often</a:t>
            </a:r>
            <a:endParaRPr lang="en-US" sz="25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2514600"/>
          <a:ext cx="676656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7498080" y="2240280"/>
            <a:ext cx="4160520" cy="3886200"/>
          </a:xfrm>
          <a:prstGeom prst="roundRect">
            <a:avLst>
              <a:gd name="adj" fmla="val 2353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777240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CHART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7772400" y="283464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on an international plan churn at 43.7%, versus 11.3% for those without one — 270 of 2,396 non-plan customers churn, against 118 of just 270 plan holders.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772400" y="4526280"/>
            <a:ext cx="3657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3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strongest single predictor on the whole dashboard — likely pointing to pricing or call-quality dissatisfaction among international callers.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DASHBOARD  |  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icons/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0" y="534010"/>
            <a:ext cx="486461" cy="4864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5 · LINE CHART  ·  KEY FINDING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Rate Spikes After the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3rd Customer-Service Call</a:t>
            </a:r>
            <a:endParaRPr lang="en-US" sz="25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2514600"/>
          <a:ext cx="676656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7498080" y="2240280"/>
            <a:ext cx="4160520" cy="3886200"/>
          </a:xfrm>
          <a:prstGeom prst="roundRect">
            <a:avLst>
              <a:gd name="adj" fmla="val 2353"/>
            </a:avLst>
          </a:prstGeom>
          <a:solidFill>
            <a:srgbClr val="F5F9FB"/>
          </a:solidFill>
          <a:ln w="12700">
            <a:solidFill>
              <a:srgbClr val="CF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777240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CHART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7772400" y="28346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holds steady around 10-14% for 0-3 calls, then jumps to 48% at 4 calls and keeps climbing — hitting 100% at 8-9 calls (a small base, but a clear ceiling).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772400" y="45720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or more calls is a practical early-warning threshold: it flags a customer whose issue was never fully resolved and who is now at very high risk of leaving.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DASHBOARD  | 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icons/sli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0" y="534010"/>
            <a:ext cx="486461" cy="4864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6 · AREA CHART  +  INTERACTIVITY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Volume by Service-Call Count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81051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customers fall into each service-call bucket — the base the churn-rate line (previous slide) is built on.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2286000"/>
          <a:ext cx="67665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7498080" y="2240280"/>
            <a:ext cx="4160520" cy="3886200"/>
          </a:xfrm>
          <a:prstGeom prst="roundRect">
            <a:avLst>
              <a:gd name="adj" fmla="val 2353"/>
            </a:avLst>
          </a:prstGeom>
          <a:solidFill>
            <a:srgbClr val="F5F9FB"/>
          </a:solidFill>
          <a:ln w="12700">
            <a:solidFill>
              <a:srgbClr val="CFE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777240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+ CONTROLS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7772400" y="28346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customers (1,900+) call support 0-2 times; very few reach 4+ calls — which is exactly why that small group's 48-100% churn rate is easy to miss without this chart.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7772400" y="42519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slicer: a one-click filter (All / True / False) that recalculates every card and chart on the page instantly.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7772400" y="5074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Drill-through button: jumps straight to a churned-customer detail view, so an agent can act on the segment immediately.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DASHBOARD  |  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icons/z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0" y="534010"/>
            <a:ext cx="486461" cy="4864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2057400"/>
            <a:ext cx="51206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C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804672" y="2313432"/>
            <a:ext cx="548640" cy="548640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/home/claude/icons/trend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09" y="2379269"/>
            <a:ext cx="416966" cy="41696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276856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14.55% base churn rate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22960" y="30175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388 of 2,666 customers have churned — a material, recurring-revenue problem, not a rounding error.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172200" y="2057400"/>
            <a:ext cx="51206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C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6428232" y="2313432"/>
            <a:ext cx="548640" cy="548640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/home/claude/icons/glo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4069" y="2379269"/>
            <a:ext cx="416966" cy="41696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32320" y="2276856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plan = 4× risk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446520" y="30175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43.7% churn on the international plan vs. 11.3% without — the single strongest predictor found.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206240"/>
            <a:ext cx="51206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C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804672" y="4462272"/>
            <a:ext cx="548640" cy="548640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/home/claude/icons/pho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509" y="4528109"/>
            <a:ext cx="416966" cy="41696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4425696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service calls = red alert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22960" y="51663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jumps from ~10% to 48-100% once a customer has called support four or more times.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172200" y="4206240"/>
            <a:ext cx="51206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C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6"/>
          <p:cNvSpPr/>
          <p:nvPr/>
        </p:nvSpPr>
        <p:spPr>
          <a:xfrm>
            <a:off x="6428232" y="4462272"/>
            <a:ext cx="548640" cy="548640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4" descr="/home/claude/icons/mapp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4069" y="4528109"/>
            <a:ext cx="416966" cy="41696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32320" y="4425696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geographically uneven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6446520" y="51663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Texas, New Jersey, Maryland, Arkansas and Mississippi post the highest churn rates by state.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0" y="534010"/>
            <a:ext cx="486461" cy="4864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INSIGHT TO ACTION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88720" y="2066544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 save-desk alert at the 4th service call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188720" y="2450592"/>
            <a:ext cx="10149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any customer's 4th support call to a senior retention agent automatically — this is the single clearest tipping point in the data.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18211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48640" y="3182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88720" y="3145536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international-plan pricing &amp; call quality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188720" y="3529584"/>
            <a:ext cx="10149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43.7% churn, investigate whether international rates or connection quality are driving dissatisfaction, and pilot a loyalty rate for this segment.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426110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48640" y="4261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88720" y="4224528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high-churn states for local campaigns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1188720" y="4608576"/>
            <a:ext cx="10149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Texas, New Jersey, Maryland, Arkansas and Mississippi with regional retention offers rather than a one-size-fits-all national campaign.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534009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48640" y="5340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88720" y="5303520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Operationalise the dashboard for the retention team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1188720" y="5687568"/>
            <a:ext cx="10149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agents live access to the Churn slicer and drill-through view so at-risk customers can be actioned the same day, not after month-end reporting.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CHURN DASHBOARD  |  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claude/icons/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585216"/>
            <a:ext cx="521208" cy="5212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57607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960120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a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 Playbook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48640" y="25146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7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dashboard turns 2,666 rows of raw subscriber data into a single, decision-ready view of churn. It confirms churn is a real and material problem at 14.55%, and — more importantly — pinpoints exactly where it concentrates: international-plan subscribers, customers who have called support four or more times, and a handful of high-churn states.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48640" y="39776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7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Churn slicer and drill-through button, this stops being a one-time report and becomes a working tool the retention team can return to every week — filtering straight to the customers who need attention next.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5257800"/>
            <a:ext cx="11064240" cy="0"/>
          </a:xfrm>
          <a:prstGeom prst="line">
            <a:avLst/>
          </a:prstGeom>
          <a:noFill/>
          <a:ln w="12700">
            <a:solidFill>
              <a:srgbClr val="344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48640" y="5486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Mittal School of Business, LPU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5943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FE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1744</Words>
  <Application>Microsoft Office PowerPoint</Application>
  <PresentationFormat>Widescreen</PresentationFormat>
  <Paragraphs>241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Rohan Singh</cp:lastModifiedBy>
  <cp:revision>3</cp:revision>
  <dcterms:created xsi:type="dcterms:W3CDTF">2026-08-29T02:50:42Z</dcterms:created>
  <dcterms:modified xsi:type="dcterms:W3CDTF">2026-08-29T04:11:14Z</dcterms:modified>
</cp:coreProperties>
</file>